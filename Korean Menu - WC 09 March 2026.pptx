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0413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2E6"/>
    <a:srgbClr val="89A860"/>
    <a:srgbClr val="98D23A"/>
    <a:srgbClr val="C1E488"/>
    <a:srgbClr val="80CDEC"/>
    <a:srgbClr val="15C5A3"/>
    <a:srgbClr val="15AC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680"/>
    <p:restoredTop sz="90850" autoAdjust="0"/>
  </p:normalViewPr>
  <p:slideViewPr>
    <p:cSldViewPr>
      <p:cViewPr varScale="1">
        <p:scale>
          <a:sx n="106" d="100"/>
          <a:sy n="106" d="100"/>
        </p:scale>
        <p:origin x="208" y="248"/>
      </p:cViewPr>
      <p:guideLst>
        <p:guide orient="horz" pos="2160"/>
        <p:guide pos="384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1E2133-5A3F-4470-96B7-9EEA4805E48F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6E75E-EA83-4B0B-B041-EEEE01550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17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6E75E-EA83-4B0B-B041-EEEE015502A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711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63617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2210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59" y="4406901"/>
            <a:ext cx="1036185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59" y="2906713"/>
            <a:ext cx="1036185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952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695" y="1600201"/>
            <a:ext cx="721054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6413" y="1600201"/>
            <a:ext cx="721266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0914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535113"/>
            <a:ext cx="5386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1" y="2174875"/>
            <a:ext cx="5386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1" y="1535113"/>
            <a:ext cx="538833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1" y="2174875"/>
            <a:ext cx="538833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627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576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9112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1" y="273050"/>
            <a:ext cx="401056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3" y="273051"/>
            <a:ext cx="681477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1" y="1435101"/>
            <a:ext cx="401056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500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800600"/>
            <a:ext cx="7314248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12775"/>
            <a:ext cx="7314248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367338"/>
            <a:ext cx="7314248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6036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3540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4067" y="274639"/>
            <a:ext cx="3655008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694" y="274639"/>
            <a:ext cx="10768198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0328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298702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74638"/>
            <a:ext cx="1097137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00201"/>
            <a:ext cx="10971372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1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8FF34-3CB0-49EB-A3B1-B5B1FD0D0A79}" type="datetimeFigureOut">
              <a:rPr lang="en-GB" smtClean="0"/>
              <a:t>09/03/2026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8" y="6356351"/>
            <a:ext cx="38602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356351"/>
            <a:ext cx="28444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E0AF7-F112-40A9-871C-DA52C803E97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970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79300" cy="1625154"/>
          </a:xfrm>
          <a:prstGeom prst="rect">
            <a:avLst/>
          </a:prstGeom>
          <a:solidFill>
            <a:srgbClr val="00C3B2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GB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" name="Table"/>
          <p:cNvGraphicFramePr/>
          <p:nvPr>
            <p:extLst>
              <p:ext uri="{D42A27DB-BD31-4B8C-83A1-F6EECF244321}">
                <p14:modId xmlns:p14="http://schemas.microsoft.com/office/powerpoint/2010/main" val="3649738321"/>
              </p:ext>
            </p:extLst>
          </p:nvPr>
        </p:nvGraphicFramePr>
        <p:xfrm>
          <a:off x="5557" y="1340768"/>
          <a:ext cx="12173745" cy="5517231"/>
        </p:xfrm>
        <a:graphic>
          <a:graphicData uri="http://schemas.openxmlformats.org/drawingml/2006/table">
            <a:tbl>
              <a:tblPr/>
              <a:tblGrid>
                <a:gridCol w="2345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4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4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47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36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GB" sz="1600" b="0" dirty="0">
                          <a:solidFill>
                            <a:srgbClr val="FFFFFF"/>
                          </a:solidFill>
                          <a:latin typeface="Samsung Sharp Sans Bold" pitchFamily="2" charset="0"/>
                          <a:ea typeface="Samsung Sharp Sans Bold" pitchFamily="2" charset="0"/>
                          <a:cs typeface="Samsung Sharp Sans Bold" pitchFamily="2" charset="0"/>
                          <a:sym typeface="Tahoma"/>
                        </a:rPr>
                        <a:t>Monday</a:t>
                      </a:r>
                    </a:p>
                  </a:txBody>
                  <a:tcPr marL="45718" marR="45718" marT="45718" marB="4571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GB" sz="1600" b="0" dirty="0">
                          <a:solidFill>
                            <a:srgbClr val="FFFFFF"/>
                          </a:solidFill>
                          <a:latin typeface="Samsung Sharp Sans Bold" pitchFamily="2" charset="0"/>
                          <a:ea typeface="Samsung Sharp Sans Bold" pitchFamily="2" charset="0"/>
                          <a:cs typeface="Samsung Sharp Sans Bold" pitchFamily="2" charset="0"/>
                          <a:sym typeface="Tahoma"/>
                        </a:rPr>
                        <a:t>Tuesday</a:t>
                      </a:r>
                    </a:p>
                  </a:txBody>
                  <a:tcPr marL="45718" marR="45718" marT="45718" marB="4571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GB" sz="1600" b="0" dirty="0">
                          <a:solidFill>
                            <a:srgbClr val="FFFFFF"/>
                          </a:solidFill>
                          <a:latin typeface="Samsung Sharp Sans Bold" pitchFamily="2" charset="0"/>
                          <a:ea typeface="Samsung Sharp Sans Bold" pitchFamily="2" charset="0"/>
                          <a:cs typeface="Samsung Sharp Sans Bold" pitchFamily="2" charset="0"/>
                          <a:sym typeface="Tahoma"/>
                        </a:rPr>
                        <a:t>Wednesday</a:t>
                      </a:r>
                    </a:p>
                  </a:txBody>
                  <a:tcPr marL="45718" marR="45718" marT="45718" marB="4571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GB" sz="1600" b="0" dirty="0">
                          <a:solidFill>
                            <a:srgbClr val="FFFFFF"/>
                          </a:solidFill>
                          <a:latin typeface="Samsung Sharp Sans Bold" pitchFamily="2" charset="0"/>
                          <a:ea typeface="Samsung Sharp Sans Bold" pitchFamily="2" charset="0"/>
                          <a:cs typeface="Samsung Sharp Sans Bold" pitchFamily="2" charset="0"/>
                          <a:sym typeface="Tahoma"/>
                        </a:rPr>
                        <a:t>Thursday</a:t>
                      </a:r>
                    </a:p>
                  </a:txBody>
                  <a:tcPr marL="45718" marR="45718" marT="45718" marB="4571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lang="en-GB" sz="1600" b="0" dirty="0">
                          <a:solidFill>
                            <a:srgbClr val="FFFFFF"/>
                          </a:solidFill>
                          <a:latin typeface="Samsung Sharp Sans Bold" pitchFamily="2" charset="0"/>
                          <a:ea typeface="Samsung Sharp Sans Bold" pitchFamily="2" charset="0"/>
                          <a:cs typeface="Samsung Sharp Sans Bold" pitchFamily="2" charset="0"/>
                          <a:sym typeface="Tahoma"/>
                        </a:rPr>
                        <a:t>Friday</a:t>
                      </a:r>
                    </a:p>
                  </a:txBody>
                  <a:tcPr marL="45718" marR="45718" marT="45718" marB="45718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4589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i="0" u="none" strike="noStrike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스윗칠리치킨</a:t>
                      </a:r>
                      <a:endParaRPr lang="en-US" altLang="ko-KR" sz="16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amsung Sharp Sans Bold" pitchFamily="2" charset="0"/>
                      </a:endParaRPr>
                    </a:p>
                    <a:p>
                      <a:pPr algn="ctr" fontAlgn="t"/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Sweet &amp; chili fried chicken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i="0" u="none" strike="noStrike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쇠불고기배추볶음</a:t>
                      </a:r>
                      <a:endParaRPr lang="en-US" altLang="ko-KR" sz="16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amsung Sharp Sans Bold" pitchFamily="2" charset="0"/>
                      </a:endParaRPr>
                    </a:p>
                    <a:p>
                      <a:pPr algn="ctr" fontAlgn="t"/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Stir fried beef with cabbage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i="0" u="none" strike="noStrike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파닭</a:t>
                      </a:r>
                      <a:endParaRPr lang="en-US" altLang="ko-KR" sz="16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amsung Sharp Sans Bold" pitchFamily="2" charset="0"/>
                      </a:endParaRPr>
                    </a:p>
                    <a:p>
                      <a:pPr algn="ctr" fontAlgn="t"/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Fried chicken with spring onion and sweet mustard sauce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돼지불고기</a:t>
                      </a:r>
                      <a:endParaRPr lang="en-US" altLang="ko-KR" sz="16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amsung Sharp Sans Bold" pitchFamily="2" charset="0"/>
                      </a:endParaRPr>
                    </a:p>
                    <a:p>
                      <a:pPr algn="ctr" fontAlgn="t"/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Stir fried pork and vegetables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t"/>
                      <a:r>
                        <a:rPr lang="ko-KR" altLang="en-US" sz="16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삼계탕</a:t>
                      </a:r>
                      <a:endParaRPr lang="en-US" altLang="ko-KR" sz="1600" b="1" i="0" u="none" strike="noStrike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Samsung Sharp Sans Bold" pitchFamily="2" charset="0"/>
                      </a:endParaRPr>
                    </a:p>
                    <a:p>
                      <a:pPr algn="ctr" fontAlgn="t"/>
                      <a:r>
                        <a:rPr lang="en-US" altLang="ko-KR" sz="1600" b="1" i="0" u="none" strike="noStrike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Samsung Sharp Sans Bold" pitchFamily="2" charset="0"/>
                        </a:rPr>
                        <a:t>Korean chicken soup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4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가지나물무침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Seasoned </a:t>
                      </a:r>
                      <a:r>
                        <a:rPr lang="en-US" altLang="ko-KR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aubergine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계란찜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Steamed egg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양배추 </a:t>
                      </a: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&amp;</a:t>
                      </a: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 </a:t>
                      </a: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강된장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Cabbage &amp; soybean paste sauce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상추쌈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Lettuce with sauce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005998"/>
                  </a:ext>
                </a:extLst>
              </a:tr>
              <a:tr h="100832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시금치나물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Seasoned spinach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브로콜리 </a:t>
                      </a: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&amp;</a:t>
                      </a: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 초장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Broccoli &amp; chili pepper paste sauce with vinegar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고추지무침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Seasoned pickled chili pepper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어묵무나물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Seasoned fish cake and radish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단무지무침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Seasoned </a:t>
                      </a:r>
                      <a:r>
                        <a:rPr lang="en-US" altLang="ko-KR" sz="1400">
                          <a:latin typeface="+mn-ea"/>
                          <a:ea typeface="+mn-ea"/>
                          <a:cs typeface="Samsung Sharp Sans Medium" pitchFamily="2" charset="0"/>
                        </a:rPr>
                        <a:t>pickled radish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29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깍두기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Cubed radish kimchi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백김치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White kimchi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배추김치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Kimchi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배추겉절이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Fresh kimchi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배추김치</a:t>
                      </a:r>
                      <a:endParaRPr lang="en-GB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Kimchi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598327"/>
                  </a:ext>
                </a:extLst>
              </a:tr>
              <a:tr h="9755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들깨미역국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Perilla seed, seaweed soup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김치콩나물국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Kimchi, bean sprout soup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쇠고기무국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Beef, radish soup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+mn-ea"/>
                          <a:ea typeface="+mn-ea"/>
                          <a:cs typeface="Samsung Sharp Sans Medium" pitchFamily="2" charset="0"/>
                        </a:rPr>
                        <a:t>배추된장국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Cabbage, bean paste soup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과일</a:t>
                      </a:r>
                      <a:endParaRPr lang="en-US" altLang="ko-KR" sz="1400" dirty="0">
                        <a:latin typeface="+mn-ea"/>
                        <a:ea typeface="+mn-ea"/>
                        <a:cs typeface="Samsung Sharp Sans Medium" pitchFamily="2" charset="0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  <a:cs typeface="Samsung Sharp Sans Medium" pitchFamily="2" charset="0"/>
                        </a:rPr>
                        <a:t>Fruits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973380"/>
                  </a:ext>
                </a:extLst>
              </a:tr>
            </a:tbl>
          </a:graphicData>
        </a:graphic>
      </p:graphicFrame>
      <p:sp>
        <p:nvSpPr>
          <p:cNvPr id="31" name="WEEK 2 Spring…"/>
          <p:cNvSpPr txBox="1"/>
          <p:nvPr/>
        </p:nvSpPr>
        <p:spPr>
          <a:xfrm>
            <a:off x="5879182" y="542342"/>
            <a:ext cx="5760640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algn="ctr">
              <a:spcAft>
                <a:spcPts val="600"/>
              </a:spcAft>
              <a:defRPr sz="2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rPr lang="en-GB" sz="2000" dirty="0">
                <a:solidFill>
                  <a:srgbClr val="FFFFFF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  <a:sym typeface="Tahoma"/>
              </a:rPr>
              <a:t>Week commencing: </a:t>
            </a:r>
            <a:r>
              <a:rPr lang="en-US" altLang="ko-KR" sz="2000" b="1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  <a:sym typeface="Tahoma"/>
              </a:rPr>
              <a:t>09</a:t>
            </a:r>
            <a:r>
              <a:rPr lang="en-US" altLang="ko-KR" sz="2000" b="1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 March 2026</a:t>
            </a:r>
            <a:endParaRPr lang="en-GB" sz="2000" dirty="0">
              <a:solidFill>
                <a:srgbClr val="FFFFFF"/>
              </a:solidFill>
              <a:latin typeface="Samsung Sharp Sans Bold" pitchFamily="2" charset="0"/>
              <a:ea typeface="Samsung Sharp Sans Bold" pitchFamily="2" charset="0"/>
              <a:cs typeface="Samsung Sharp Sans Bold" pitchFamily="2" charset="0"/>
              <a:sym typeface="Tahoma"/>
            </a:endParaRPr>
          </a:p>
        </p:txBody>
      </p:sp>
      <p:sp>
        <p:nvSpPr>
          <p:cNvPr id="9" name="WEEK 2 Spring…"/>
          <p:cNvSpPr txBox="1"/>
          <p:nvPr/>
        </p:nvSpPr>
        <p:spPr>
          <a:xfrm>
            <a:off x="766614" y="280732"/>
            <a:ext cx="5786114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pPr>
            <a:r>
              <a:rPr lang="en-GB" sz="5400" dirty="0">
                <a:solidFill>
                  <a:srgbClr val="FFFFFF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  <a:sym typeface="Tahoma"/>
              </a:rPr>
              <a:t>Korean menu</a:t>
            </a:r>
          </a:p>
        </p:txBody>
      </p:sp>
    </p:spTree>
    <p:extLst>
      <p:ext uri="{BB962C8B-B14F-4D97-AF65-F5344CB8AC3E}">
        <p14:creationId xmlns:p14="http://schemas.microsoft.com/office/powerpoint/2010/main" val="92064038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3411</TotalTime>
  <Words>132</Words>
  <Application>Microsoft Macintosh PowerPoint</Application>
  <PresentationFormat>Custom</PresentationFormat>
  <Paragraphs>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Samsung Sharp Sans Bold</vt:lpstr>
      <vt:lpstr>Arial</vt:lpstr>
      <vt:lpstr>Calibri</vt:lpstr>
      <vt:lpstr>Office Theme</vt:lpstr>
      <vt:lpstr>PowerPoint Presentation</vt:lpstr>
    </vt:vector>
  </TitlesOfParts>
  <Company>Samsung Electronics Co.Ltd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Aimee Miller</dc:creator>
  <cp:lastModifiedBy>Soo Yong Lee</cp:lastModifiedBy>
  <cp:revision>3918</cp:revision>
  <cp:lastPrinted>2020-11-22T23:17:54Z</cp:lastPrinted>
  <dcterms:created xsi:type="dcterms:W3CDTF">2017-12-08T15:46:04Z</dcterms:created>
  <dcterms:modified xsi:type="dcterms:W3CDTF">2026-03-09T06:25:39Z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lpwstr>BACECBF36D96C25A7F2B0017D876008E49CEED7E679B08146C9AC97CBF91F514</vt:lpwstr>
  </property>
  <property fmtid="{D5CDD505-2E9C-101B-9397-08002B2CF9AE}" pid="2" name="NSCPROP">
    <vt:lpwstr>NSCCustomProperty</vt:lpwstr>
  </property>
</Properties>
</file>